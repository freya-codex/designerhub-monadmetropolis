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7CFF"/>
              </a:solidFill>
              <a:effectLst/>
            </c:spPr>
          </c:dPt>
          <c:dPt>
            <c:idx val="1"/>
            <c:bubble3D val="0"/>
            <c:spPr>
              <a:solidFill>
                <a:srgbClr val="3A356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Creator 90%</c:v>
                </c:pt>
                <c:pt idx="1">
                  <c:v>Platform 10%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C7C3D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6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50" y="406301"/>
            <a:ext cx="1905000" cy="2723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79777" y="464195"/>
            <a:ext cx="3753675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2"/>
              </a:lnSpc>
              <a:buNone/>
            </a:pPr>
            <a:r>
              <a:rPr lang="en-US" sz="850" dirty="0">
                <a:solidFill>
                  <a:srgbClr val="8E8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04 · TRUST, IDENTITY &amp; AI INFRASTRUCTURE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84150" y="1782663"/>
            <a:ext cx="4130302" cy="660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spcAft>
                <a:spcPts val="9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 Hub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584150" y="2557314"/>
            <a:ext cx="4130302" cy="312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65"/>
              </a:lnSpc>
              <a:spcAft>
                <a:spcPts val="1100"/>
              </a:spcAft>
              <a:buNone/>
            </a:pPr>
            <a:r>
              <a:rPr lang="en-US" sz="1700" dirty="0">
                <a:solidFill>
                  <a:srgbClr val="8B7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GitHub for home design.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84150" y="3009900"/>
            <a:ext cx="4130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 scheme. Mint it as an on-chain asset. Remix it, keep your name on it, and get paid when it is used.</a:t>
            </a:r>
            <a:endParaRPr lang="en-US" sz="1200" dirty="0"/>
          </a:p>
        </p:txBody>
      </p:sp>
      <p:pic>
        <p:nvPicPr>
          <p:cNvPr id="7" name="Image 1" descr="coll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306" y="922130"/>
            <a:ext cx="4198293" cy="327466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84150" y="4576018"/>
            <a:ext cx="7975699" cy="0"/>
          </a:xfrm>
          <a:prstGeom prst="line">
            <a:avLst/>
          </a:prstGeom>
          <a:noFill/>
          <a:ln w="9525">
            <a:solidFill>
              <a:srgbClr val="3A356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84150" y="4707731"/>
            <a:ext cx="1010412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2"/>
              </a:lnSpc>
              <a:buNone/>
            </a:pPr>
            <a:r>
              <a:rPr lang="en-US" sz="850" dirty="0">
                <a:solidFill>
                  <a:srgbClr val="8E8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MONAD TESTNET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828651" y="4707731"/>
            <a:ext cx="854964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2"/>
              </a:lnSpc>
              <a:buNone/>
            </a:pPr>
            <a:r>
              <a:rPr lang="en-US" sz="850" dirty="0">
                <a:solidFill>
                  <a:srgbClr val="8E8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CONTRACTS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2920752" y="4707731"/>
            <a:ext cx="621792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2"/>
              </a:lnSpc>
              <a:buNone/>
            </a:pPr>
            <a:r>
              <a:rPr lang="en-US" sz="850" dirty="0">
                <a:solidFill>
                  <a:srgbClr val="8E8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 TESTS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3784253" y="4707731"/>
            <a:ext cx="854964" cy="156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2"/>
              </a:lnSpc>
              <a:buNone/>
            </a:pPr>
            <a:r>
              <a:rPr lang="en-US" sz="850" dirty="0">
                <a:solidFill>
                  <a:srgbClr val="8E8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2-MIN PITCH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381000"/>
            <a:ext cx="8135213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84150" y="657374"/>
            <a:ext cx="8135213" cy="41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spcAft>
                <a:spcPts val="1600"/>
              </a:spcAft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 first, builder second.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84150" y="1768376"/>
            <a:ext cx="3810000" cy="2448223"/>
          </a:xfrm>
          <a:prstGeom prst="roundRect">
            <a:avLst>
              <a:gd name="adj" fmla="val 5187"/>
            </a:avLst>
          </a:prstGeom>
          <a:solidFill>
            <a:srgbClr val="14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84150" y="1773138"/>
            <a:ext cx="3810000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388" y="1768376"/>
            <a:ext cx="0" cy="2448223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4150" y="4211836"/>
            <a:ext cx="3810000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200" y="1768376"/>
            <a:ext cx="0" cy="2448223"/>
          </a:xfrm>
          <a:prstGeom prst="line">
            <a:avLst/>
          </a:prstGeom>
          <a:noFill/>
          <a:ln w="38100">
            <a:solidFill>
              <a:srgbClr val="8B7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750" y="1942951"/>
            <a:ext cx="3449002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750" y="2235547"/>
            <a:ext cx="3449002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榮 (Rong)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750" y="2504629"/>
            <a:ext cx="3449002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DESIGNER + FULL-STACK BUILDER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750" y="2835325"/>
            <a:ext cx="3381375" cy="1130498"/>
          </a:xfrm>
          <a:prstGeom prst="rect">
            <a:avLst/>
          </a:prstGeom>
          <a:noFill/>
          <a:ln/>
        </p:spPr>
        <p:txBody>
          <a:bodyPr wrap="square" lIns="82550" tIns="0" rIns="0" bIns="0" rtlCol="0" anchor="t"/>
          <a:lstStyle/>
          <a:p>
            <a:pPr algn="l" marL="82550" indent="-82550">
              <a:lnSpc>
                <a:spcPts val="17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OCADU — Interior Design</a:t>
            </a:r>
            <a:endParaRPr lang="en-US" sz="1250" dirty="0"/>
          </a:p>
          <a:p>
            <a:pPr algn="l" marL="82550" indent="-82550">
              <a:lnSpc>
                <a:spcPts val="17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 — MArch, Architecture</a:t>
            </a:r>
            <a:endParaRPr lang="en-US" sz="1250" dirty="0"/>
          </a:p>
          <a:p>
            <a:pPr algn="l" marL="82550" indent="-82550">
              <a:lnSpc>
                <a:spcPts val="17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GAD · AECOM — practice</a:t>
            </a:r>
            <a:endParaRPr lang="en-US" sz="1250" dirty="0"/>
          </a:p>
          <a:p>
            <a:pPr algn="l" marL="82550" indent="-82550">
              <a:lnSpc>
                <a:spcPts val="17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— 云筑家 VirtuHome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48051" y="1426220"/>
            <a:ext cx="3911798" cy="1023193"/>
          </a:xfrm>
          <a:prstGeom prst="roundRect">
            <a:avLst>
              <a:gd name="adj" fmla="val 12412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0" descr="ic-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076" y="1798141"/>
            <a:ext cx="279350" cy="2793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279827" y="1600795"/>
            <a:ext cx="31415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authority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279827" y="1842046"/>
            <a:ext cx="3141598" cy="432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know what a scheme is worth — and who pays for it.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648051" y="2589014"/>
            <a:ext cx="3911798" cy="1023193"/>
          </a:xfrm>
          <a:prstGeom prst="roundRect">
            <a:avLst>
              <a:gd name="adj" fmla="val 12412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1" descr="ic-sp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076" y="2960936"/>
            <a:ext cx="279350" cy="27935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79827" y="2763589"/>
            <a:ext cx="31415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Lived the problem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5279827" y="3004840"/>
            <a:ext cx="3141598" cy="432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own work was remixed with no trace back.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648051" y="3751808"/>
            <a:ext cx="3911798" cy="806797"/>
          </a:xfrm>
          <a:prstGeom prst="roundRect">
            <a:avLst>
              <a:gd name="adj" fmla="val 15741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2" descr="ic-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076" y="4015532"/>
            <a:ext cx="279350" cy="27935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79827" y="3926384"/>
            <a:ext cx="29380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it solo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279827" y="4167634"/>
            <a:ext cx="2938028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contracts, the app and the typed SDK.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84150" y="4712047"/>
            <a:ext cx="79756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84150" y="4793010"/>
            <a:ext cx="839176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DESIGNER HUB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8079879" y="4793010"/>
            <a:ext cx="489570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381000"/>
            <a:ext cx="8135213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84150" y="657374"/>
            <a:ext cx="8135213" cy="41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spcAft>
                <a:spcPts val="1600"/>
              </a:spcAft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design has no authorship.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84150" y="1277689"/>
            <a:ext cx="1934021" cy="1785640"/>
          </a:xfrm>
          <a:prstGeom prst="roundRect">
            <a:avLst>
              <a:gd name="adj" fmla="val 7112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4175" y="1452265"/>
            <a:ext cx="431750" cy="431750"/>
          </a:xfrm>
          <a:prstGeom prst="roundRect">
            <a:avLst>
              <a:gd name="adj" fmla="val 23532"/>
            </a:avLst>
          </a:prstGeom>
          <a:solidFill>
            <a:srgbClr val="1C1930"/>
          </a:solidFill>
          <a:ln w="9525">
            <a:solidFill>
              <a:srgbClr val="3A3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ic-cop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25" y="1547515"/>
            <a:ext cx="241250" cy="2412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4175" y="1998315"/>
            <a:ext cx="15646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Remix, no recourse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84175" y="2239566"/>
            <a:ext cx="1564651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Copied and reused — the original earns nothing.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597795" y="1277689"/>
            <a:ext cx="1934021" cy="1785640"/>
          </a:xfrm>
          <a:prstGeom prst="roundRect">
            <a:avLst>
              <a:gd name="adj" fmla="val 7112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797820" y="1452265"/>
            <a:ext cx="431750" cy="431750"/>
          </a:xfrm>
          <a:prstGeom prst="roundRect">
            <a:avLst>
              <a:gd name="adj" fmla="val 23532"/>
            </a:avLst>
          </a:prstGeom>
          <a:solidFill>
            <a:srgbClr val="1C1930"/>
          </a:solidFill>
          <a:ln w="9525">
            <a:solidFill>
              <a:srgbClr val="3A3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ic-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070" y="1547515"/>
            <a:ext cx="241250" cy="2412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97820" y="1998315"/>
            <a:ext cx="15646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in a silo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797820" y="2239566"/>
            <a:ext cx="1564651" cy="432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lives in one database — freezable.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611439" y="1277689"/>
            <a:ext cx="1934021" cy="1785640"/>
          </a:xfrm>
          <a:prstGeom prst="roundRect">
            <a:avLst>
              <a:gd name="adj" fmla="val 7112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811464" y="1452265"/>
            <a:ext cx="431750" cy="431750"/>
          </a:xfrm>
          <a:prstGeom prst="roundRect">
            <a:avLst>
              <a:gd name="adj" fmla="val 23532"/>
            </a:avLst>
          </a:prstGeom>
          <a:solidFill>
            <a:srgbClr val="1C1930"/>
          </a:solidFill>
          <a:ln w="9525">
            <a:solidFill>
              <a:srgbClr val="3A3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ic-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6714" y="1547515"/>
            <a:ext cx="241250" cy="2412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11464" y="1998315"/>
            <a:ext cx="15646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AI, no record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811464" y="2239566"/>
            <a:ext cx="1564651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neutral proof of which model made what.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625084" y="1277689"/>
            <a:ext cx="1934021" cy="1785640"/>
          </a:xfrm>
          <a:prstGeom prst="roundRect">
            <a:avLst>
              <a:gd name="adj" fmla="val 7112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825109" y="1452265"/>
            <a:ext cx="431750" cy="431750"/>
          </a:xfrm>
          <a:prstGeom prst="roundRect">
            <a:avLst>
              <a:gd name="adj" fmla="val 23532"/>
            </a:avLst>
          </a:prstGeom>
          <a:solidFill>
            <a:srgbClr val="1C1930"/>
          </a:solidFill>
          <a:ln w="9525">
            <a:solidFill>
              <a:srgbClr val="3A3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ic-k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0359" y="1547515"/>
            <a:ext cx="241250" cy="2412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25109" y="1998315"/>
            <a:ext cx="15646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churns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825109" y="2239566"/>
            <a:ext cx="1564651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Custodial accounts or seed phrases — high friction.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84150" y="3628876"/>
            <a:ext cx="7975699" cy="677763"/>
          </a:xfrm>
          <a:prstGeom prst="roundRect">
            <a:avLst>
              <a:gd name="adj" fmla="val 18738"/>
            </a:avLst>
          </a:prstGeom>
          <a:solidFill>
            <a:srgbClr val="14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19"/>
          <p:cNvSpPr/>
          <p:nvPr/>
        </p:nvSpPr>
        <p:spPr>
          <a:xfrm>
            <a:off x="584150" y="3633639"/>
            <a:ext cx="79756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555087" y="3628876"/>
            <a:ext cx="0" cy="677763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84150" y="4301877"/>
            <a:ext cx="79756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03200" y="3628876"/>
            <a:ext cx="0" cy="677763"/>
          </a:xfrm>
          <a:prstGeom prst="line">
            <a:avLst/>
          </a:prstGeom>
          <a:noFill/>
          <a:ln w="38100">
            <a:solidFill>
              <a:srgbClr val="8B7CF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50850" y="3841552"/>
            <a:ext cx="7620292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8"/>
              </a:lnSpc>
              <a:buNone/>
            </a:pPr>
            <a:r>
              <a:rPr lang="en-US" sz="1400" dirty="0">
                <a:solidFill>
                  <a:srgbClr val="E4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fixes just re-centralize the problem — one more vault, one more private database.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584150" y="4712047"/>
            <a:ext cx="79756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84150" y="4793010"/>
            <a:ext cx="839176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DESIGNER HUB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8079879" y="4793010"/>
            <a:ext cx="489570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381000"/>
            <a:ext cx="8135213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WE'RE BUILDING IT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84150" y="657374"/>
            <a:ext cx="8135213" cy="41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spcAft>
                <a:spcPts val="1600"/>
              </a:spcAft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I've been on the losing side of this.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84150" y="2260402"/>
            <a:ext cx="4270721" cy="802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6"/>
              </a:lnSpc>
              <a:buNone/>
            </a:pPr>
            <a:r>
              <a:rPr lang="en-US" sz="13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designer, my schemes were remixed with no trace back. As a founder, my 云筑家 users hit the same wall.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84150" y="3189684"/>
            <a:ext cx="4270721" cy="534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6"/>
              </a:lnSpc>
              <a:spcBef>
                <a:spcPts val="1000"/>
              </a:spcBef>
              <a:buNone/>
            </a:pPr>
            <a:r>
              <a:rPr lang="en-US" sz="13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work needs a settlement layer — and it has to be </a:t>
            </a:r>
            <a:pPr algn="l" indent="0" marL="0">
              <a:lnSpc>
                <a:spcPts val="2106"/>
              </a:lnSpc>
              <a:spcBef>
                <a:spcPts val="100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primitive</a:t>
            </a:r>
            <a:pPr algn="l" indent="0" marL="0">
              <a:lnSpc>
                <a:spcPts val="2106"/>
              </a:lnSpc>
              <a:spcBef>
                <a:spcPts val="1000"/>
              </a:spcBef>
              <a:buNone/>
            </a:pPr>
            <a:r>
              <a:rPr lang="en-US" sz="13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 feature of one app.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50482" y="1470124"/>
            <a:ext cx="3509367" cy="858143"/>
          </a:xfrm>
          <a:prstGeom prst="roundRect">
            <a:avLst>
              <a:gd name="adj" fmla="val 14799"/>
            </a:avLst>
          </a:prstGeom>
          <a:solidFill>
            <a:srgbClr val="14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50482" y="1474887"/>
            <a:ext cx="3509367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55087" y="1470124"/>
            <a:ext cx="0" cy="858143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50482" y="2323505"/>
            <a:ext cx="3509367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69532" y="1470124"/>
            <a:ext cx="0" cy="858143"/>
          </a:xfrm>
          <a:prstGeom prst="line">
            <a:avLst/>
          </a:prstGeom>
          <a:noFill/>
          <a:ln w="38100">
            <a:solidFill>
              <a:srgbClr val="8B7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79082" y="1644700"/>
            <a:ext cx="3142357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 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79082" y="1937296"/>
            <a:ext cx="3142357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4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matters as much as generation.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50482" y="2455218"/>
            <a:ext cx="3509367" cy="1074539"/>
          </a:xfrm>
          <a:prstGeom prst="roundRect">
            <a:avLst>
              <a:gd name="adj" fmla="val 11819"/>
            </a:avLst>
          </a:prstGeom>
          <a:solidFill>
            <a:srgbClr val="14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050482" y="2459980"/>
            <a:ext cx="3509367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55087" y="2455218"/>
            <a:ext cx="0" cy="1074539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50482" y="3524994"/>
            <a:ext cx="3509367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69532" y="2455218"/>
            <a:ext cx="0" cy="1074539"/>
          </a:xfrm>
          <a:prstGeom prst="line">
            <a:avLst/>
          </a:prstGeom>
          <a:noFill/>
          <a:ln w="38100">
            <a:solidFill>
              <a:srgbClr val="8B7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79082" y="2629793"/>
            <a:ext cx="3142357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 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79082" y="2922389"/>
            <a:ext cx="3142357" cy="432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4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belongs on-chain, not in a database.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50482" y="3656707"/>
            <a:ext cx="3509367" cy="858143"/>
          </a:xfrm>
          <a:prstGeom prst="roundRect">
            <a:avLst>
              <a:gd name="adj" fmla="val 14799"/>
            </a:avLst>
          </a:prstGeom>
          <a:solidFill>
            <a:srgbClr val="14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050482" y="3661470"/>
            <a:ext cx="3509367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55087" y="3656707"/>
            <a:ext cx="0" cy="858143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50482" y="4510088"/>
            <a:ext cx="3509367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69532" y="3656707"/>
            <a:ext cx="0" cy="858143"/>
          </a:xfrm>
          <a:prstGeom prst="line">
            <a:avLst/>
          </a:prstGeom>
          <a:noFill/>
          <a:ln w="38100">
            <a:solidFill>
              <a:srgbClr val="8B7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79082" y="3831282"/>
            <a:ext cx="3142357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 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79082" y="4123879"/>
            <a:ext cx="3142357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E4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is what creators pay for.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4150" y="4712047"/>
            <a:ext cx="79756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4150" y="4793010"/>
            <a:ext cx="839176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DESIGNER HUB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79879" y="4793010"/>
            <a:ext cx="489570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381000"/>
            <a:ext cx="8135213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84150" y="657374"/>
            <a:ext cx="8135213" cy="41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spcAft>
                <a:spcPts val="1600"/>
              </a:spcAft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primitives. Live on Monad.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84150" y="1277689"/>
            <a:ext cx="1934021" cy="2268736"/>
          </a:xfrm>
          <a:prstGeom prst="roundRect">
            <a:avLst>
              <a:gd name="adj" fmla="val 6567"/>
            </a:avLst>
          </a:prstGeom>
          <a:solidFill>
            <a:srgbClr val="14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84150" y="1282452"/>
            <a:ext cx="1934021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3409" y="1277689"/>
            <a:ext cx="0" cy="2268736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4150" y="3541663"/>
            <a:ext cx="1934021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200" y="1277689"/>
            <a:ext cx="0" cy="2268736"/>
          </a:xfrm>
          <a:prstGeom prst="line">
            <a:avLst/>
          </a:prstGeom>
          <a:noFill/>
          <a:ln w="38100">
            <a:solidFill>
              <a:srgbClr val="8B7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750" y="1452265"/>
            <a:ext cx="431750" cy="431750"/>
          </a:xfrm>
          <a:prstGeom prst="roundRect">
            <a:avLst>
              <a:gd name="adj" fmla="val 23532"/>
            </a:avLst>
          </a:prstGeom>
          <a:solidFill>
            <a:srgbClr val="1C1930"/>
          </a:solidFill>
          <a:ln w="9525">
            <a:solidFill>
              <a:srgbClr val="3A3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ic-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00" y="1547515"/>
            <a:ext cx="241250" cy="2412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12750" y="1998315"/>
            <a:ext cx="1535504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2750" y="2290911"/>
            <a:ext cx="15355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Passkey Account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12750" y="2532162"/>
            <a:ext cx="1535504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seed phrase. The key never leaves the secure element.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597795" y="1277689"/>
            <a:ext cx="1934021" cy="2268736"/>
          </a:xfrm>
          <a:prstGeom prst="roundRect">
            <a:avLst>
              <a:gd name="adj" fmla="val 6567"/>
            </a:avLst>
          </a:prstGeom>
          <a:solidFill>
            <a:srgbClr val="14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2597795" y="1282452"/>
            <a:ext cx="1934021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27054" y="1277689"/>
            <a:ext cx="0" cy="2268736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97795" y="3541663"/>
            <a:ext cx="1934021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616845" y="1277689"/>
            <a:ext cx="0" cy="2268736"/>
          </a:xfrm>
          <a:prstGeom prst="line">
            <a:avLst/>
          </a:prstGeom>
          <a:noFill/>
          <a:ln w="38100">
            <a:solidFill>
              <a:srgbClr val="8B7C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26395" y="1452265"/>
            <a:ext cx="431750" cy="431750"/>
          </a:xfrm>
          <a:prstGeom prst="roundRect">
            <a:avLst>
              <a:gd name="adj" fmla="val 23532"/>
            </a:avLst>
          </a:prstGeom>
          <a:solidFill>
            <a:srgbClr val="1C1930"/>
          </a:solidFill>
          <a:ln w="9525">
            <a:solidFill>
              <a:srgbClr val="3A3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1" descr="ic-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645" y="1547515"/>
            <a:ext cx="241250" cy="24125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826395" y="1998315"/>
            <a:ext cx="1535504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2826395" y="2290911"/>
            <a:ext cx="15355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ProvenanceRegistry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2826395" y="2532162"/>
            <a:ext cx="1535504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commitment hash goes on-chain. Content stays off.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611439" y="1277689"/>
            <a:ext cx="1934021" cy="2268736"/>
          </a:xfrm>
          <a:prstGeom prst="roundRect">
            <a:avLst>
              <a:gd name="adj" fmla="val 6567"/>
            </a:avLst>
          </a:prstGeom>
          <a:solidFill>
            <a:srgbClr val="14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1"/>
          <p:cNvSpPr/>
          <p:nvPr/>
        </p:nvSpPr>
        <p:spPr>
          <a:xfrm>
            <a:off x="4611439" y="1282452"/>
            <a:ext cx="1934021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540698" y="1277689"/>
            <a:ext cx="0" cy="2268736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611439" y="3541663"/>
            <a:ext cx="1934021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630489" y="1277689"/>
            <a:ext cx="0" cy="2268736"/>
          </a:xfrm>
          <a:prstGeom prst="line">
            <a:avLst/>
          </a:prstGeom>
          <a:noFill/>
          <a:ln w="38100">
            <a:solidFill>
              <a:srgbClr val="8B7CF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840039" y="1452265"/>
            <a:ext cx="431750" cy="431750"/>
          </a:xfrm>
          <a:prstGeom prst="roundRect">
            <a:avLst>
              <a:gd name="adj" fmla="val 23532"/>
            </a:avLst>
          </a:prstGeom>
          <a:solidFill>
            <a:srgbClr val="1C1930"/>
          </a:solidFill>
          <a:ln w="9525">
            <a:solidFill>
              <a:srgbClr val="3A3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2" descr="ic-cu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289" y="1547515"/>
            <a:ext cx="241250" cy="24125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840039" y="1998315"/>
            <a:ext cx="1535504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4840039" y="2290911"/>
            <a:ext cx="15355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DreamScheme + Market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4840039" y="2722662"/>
            <a:ext cx="1535504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ERC-721 lineage, creator pricing, instant splits.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6625084" y="1277689"/>
            <a:ext cx="1934021" cy="2268736"/>
          </a:xfrm>
          <a:prstGeom prst="roundRect">
            <a:avLst>
              <a:gd name="adj" fmla="val 6567"/>
            </a:avLst>
          </a:prstGeom>
          <a:solidFill>
            <a:srgbClr val="14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0"/>
          <p:cNvSpPr/>
          <p:nvPr/>
        </p:nvSpPr>
        <p:spPr>
          <a:xfrm>
            <a:off x="6625084" y="1282452"/>
            <a:ext cx="1934021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8554343" y="1277689"/>
            <a:ext cx="0" cy="2268736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6625084" y="3541663"/>
            <a:ext cx="1934021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644134" y="1277689"/>
            <a:ext cx="0" cy="2268736"/>
          </a:xfrm>
          <a:prstGeom prst="line">
            <a:avLst/>
          </a:prstGeom>
          <a:noFill/>
          <a:ln w="38100">
            <a:solidFill>
              <a:srgbClr val="8B7CFF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853684" y="1452265"/>
            <a:ext cx="431750" cy="431750"/>
          </a:xfrm>
          <a:prstGeom prst="roundRect">
            <a:avLst>
              <a:gd name="adj" fmla="val 23532"/>
            </a:avLst>
          </a:prstGeom>
          <a:solidFill>
            <a:srgbClr val="1C1930"/>
          </a:solidFill>
          <a:ln w="9525">
            <a:solidFill>
              <a:srgbClr val="3A3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0" name="Image 3" descr="ic-netwo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8934" y="1547515"/>
            <a:ext cx="241250" cy="24125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853684" y="1998315"/>
            <a:ext cx="1535504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TRUST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6853684" y="2290911"/>
            <a:ext cx="15355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AgentRegistry</a:t>
            </a:r>
            <a:endParaRPr lang="en-US" sz="1250" dirty="0"/>
          </a:p>
        </p:txBody>
      </p:sp>
      <p:sp>
        <p:nvSpPr>
          <p:cNvPr id="43" name="Text 37"/>
          <p:cNvSpPr/>
          <p:nvPr/>
        </p:nvSpPr>
        <p:spPr>
          <a:xfrm>
            <a:off x="6853684" y="2532162"/>
            <a:ext cx="1535504" cy="432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mint records the AI that made it.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584150" y="3762375"/>
            <a:ext cx="7975699" cy="893862"/>
          </a:xfrm>
          <a:prstGeom prst="roundRect">
            <a:avLst>
              <a:gd name="adj" fmla="val 14208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5" name="Image 4" descr="ic-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275" y="4069556"/>
            <a:ext cx="279350" cy="27935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1254026" y="3975050"/>
            <a:ext cx="7209053" cy="468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Packaged as a typed SDK so any design tool, marketplace or agent platform can build on it — </a:t>
            </a:r>
            <a:pPr algn="l" indent="0" marL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our UI</a:t>
            </a:r>
            <a:pPr algn="l" indent="0" marL="0">
              <a:lnSpc>
                <a:spcPts val="1846"/>
              </a:lnSpc>
              <a:buNone/>
            </a:pPr>
            <a:r>
              <a:rPr lang="en-US" sz="1300" dirty="0">
                <a:solidFill>
                  <a:srgbClr val="E4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47" name="Shape 40"/>
          <p:cNvSpPr/>
          <p:nvPr/>
        </p:nvSpPr>
        <p:spPr>
          <a:xfrm>
            <a:off x="584150" y="4712047"/>
            <a:ext cx="79756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584150" y="4793010"/>
            <a:ext cx="839176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DESIGNER HUB</a:t>
            </a:r>
            <a:endParaRPr lang="en-US" sz="800" dirty="0"/>
          </a:p>
        </p:txBody>
      </p:sp>
      <p:sp>
        <p:nvSpPr>
          <p:cNvPr id="49" name="Text 42"/>
          <p:cNvSpPr/>
          <p:nvPr/>
        </p:nvSpPr>
        <p:spPr>
          <a:xfrm>
            <a:off x="8079879" y="4793010"/>
            <a:ext cx="489570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381000"/>
            <a:ext cx="8135213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84150" y="657374"/>
            <a:ext cx="8135213" cy="41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spcAft>
                <a:spcPts val="1600"/>
              </a:spcAft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scheme JSON in. A living asset out.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84150" y="1277689"/>
            <a:ext cx="1515368" cy="789236"/>
          </a:xfrm>
          <a:prstGeom prst="roundRect">
            <a:avLst>
              <a:gd name="adj" fmla="val 16091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6075" y="1426815"/>
            <a:ext cx="1215348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6075" y="1719411"/>
            <a:ext cx="1215348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from 云筑家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9084" y="1277689"/>
            <a:ext cx="1515368" cy="789236"/>
          </a:xfrm>
          <a:prstGeom prst="roundRect">
            <a:avLst>
              <a:gd name="adj" fmla="val 16091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361009" y="1426815"/>
            <a:ext cx="1215348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61009" y="1719411"/>
            <a:ext cx="1215348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to IPFS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14018" y="1277689"/>
            <a:ext cx="1515368" cy="789236"/>
          </a:xfrm>
          <a:prstGeom prst="roundRect">
            <a:avLst>
              <a:gd name="adj" fmla="val 16091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75943" y="1426815"/>
            <a:ext cx="1215348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75943" y="1719411"/>
            <a:ext cx="1215348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 ERC-721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28952" y="1277689"/>
            <a:ext cx="1515368" cy="789236"/>
          </a:xfrm>
          <a:prstGeom prst="roundRect">
            <a:avLst>
              <a:gd name="adj" fmla="val 16091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590877" y="1426815"/>
            <a:ext cx="1215348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90877" y="1719411"/>
            <a:ext cx="1215348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Remix (parentId)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3886" y="1277689"/>
            <a:ext cx="1515368" cy="789236"/>
          </a:xfrm>
          <a:prstGeom prst="roundRect">
            <a:avLst>
              <a:gd name="adj" fmla="val 16091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205811" y="1426815"/>
            <a:ext cx="1215348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05811" y="1719411"/>
            <a:ext cx="1215348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→ split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4150" y="2704207"/>
            <a:ext cx="402297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enforced by the contract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84150" y="3011388"/>
            <a:ext cx="3944094" cy="828824"/>
          </a:xfrm>
          <a:prstGeom prst="rect">
            <a:avLst/>
          </a:prstGeom>
          <a:noFill/>
          <a:ln/>
        </p:spPr>
        <p:txBody>
          <a:bodyPr wrap="square" lIns="82550" tIns="0" rIns="0" bIns="0" rtlCol="0" anchor="t"/>
          <a:lstStyle/>
          <a:p>
            <a:pPr algn="l" marL="82550" indent="-82550">
              <a:lnSpc>
                <a:spcPts val="17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→ </a:t>
            </a:r>
            <a:pPr algn="l" indent="0" marL="0">
              <a:lnSpc>
                <a:spcPts val="1775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/ 10</a:t>
            </a:r>
            <a:pPr algn="l" indent="0" marL="0">
              <a:lnSpc>
                <a:spcPts val="1775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(creator / platform)</a:t>
            </a:r>
            <a:endParaRPr lang="en-US" sz="1250" dirty="0"/>
          </a:p>
          <a:p>
            <a:pPr algn="l" marL="82550" indent="-82550">
              <a:lnSpc>
                <a:spcPts val="17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Remix → </a:t>
            </a:r>
            <a:pPr algn="l" indent="0" marL="0">
              <a:lnSpc>
                <a:spcPts val="1775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/ 10 / 5</a:t>
            </a:r>
            <a:pPr algn="l" indent="0" marL="0">
              <a:lnSpc>
                <a:spcPts val="1775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(creator / platform / lineage)</a:t>
            </a:r>
            <a:endParaRPr lang="en-US" sz="1250" dirty="0"/>
          </a:p>
          <a:p>
            <a:pPr algn="l" marL="82550" indent="-82550">
              <a:lnSpc>
                <a:spcPts val="17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Resale royalty </a:t>
            </a:r>
            <a:pPr algn="l" indent="0" marL="0">
              <a:lnSpc>
                <a:spcPts val="1775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pPr algn="l" indent="0" marL="0">
              <a:lnSpc>
                <a:spcPts val="1775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heat = remixes ×2 + applies ×3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84150" y="3916412"/>
            <a:ext cx="4022976" cy="331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8E8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Splits settle in the same transaction — no vault to freeze.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4150" y="4712047"/>
            <a:ext cx="79756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4150" y="4793010"/>
            <a:ext cx="839176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DESIGNER HUB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79879" y="4793010"/>
            <a:ext cx="489570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13</a:t>
            </a:r>
            <a:endParaRPr lang="en-US" sz="8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5375523" y="2523381"/>
          <a:ext cx="2539901" cy="190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381000"/>
            <a:ext cx="8135213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RUBRIC 01 · TECHNICAL EXECUTION — 20%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84150" y="657374"/>
            <a:ext cx="8135213" cy="41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spcAft>
                <a:spcPts val="1600"/>
              </a:spcAft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WebAuthn, verified on-chain.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84150" y="2050852"/>
            <a:ext cx="4582269" cy="1806922"/>
          </a:xfrm>
          <a:prstGeom prst="rect">
            <a:avLst/>
          </a:prstGeom>
          <a:noFill/>
          <a:ln/>
        </p:spPr>
        <p:txBody>
          <a:bodyPr wrap="square" lIns="82550" tIns="0" rIns="0" bIns="0" rtlCol="0" anchor="t"/>
          <a:lstStyle/>
          <a:p>
            <a:pPr algn="l" marL="82550" indent="-82550">
              <a:lnSpc>
                <a:spcPts val="17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chain verifies a real WebAuthn assertion; the challenge binds the calldata, so a relayer pays gas but </a:t>
            </a:r>
            <a:pPr algn="l" indent="0" marL="0">
              <a:lnSpc>
                <a:spcPts val="1775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tamper</a:t>
            </a:r>
            <a:pPr algn="l" indent="0" marL="0">
              <a:lnSpc>
                <a:spcPts val="1775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50" dirty="0"/>
          </a:p>
          <a:p>
            <a:pPr algn="l" marL="82550" indent="-82550">
              <a:lnSpc>
                <a:spcPts val="17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CREATE2 address from </a:t>
            </a:r>
            <a:pPr algn="l" indent="0" marL="0">
              <a:lnSpc>
                <a:spcPts val="1775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(x, y, rpIdHash, originHash)</a:t>
            </a:r>
            <a:pPr algn="l" indent="0" marL="0">
              <a:lnSpc>
                <a:spcPts val="1775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up to 4 keys for recovery.</a:t>
            </a:r>
            <a:endParaRPr lang="en-US" sz="1250" dirty="0"/>
          </a:p>
          <a:p>
            <a:pPr algn="l" marL="82550" indent="-82550">
              <a:lnSpc>
                <a:spcPts val="17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Pure-Solidity P-256 fallback → runs without the RIP-7212 precompile.</a:t>
            </a:r>
            <a:endParaRPr lang="en-US" sz="1250" dirty="0"/>
          </a:p>
          <a:p>
            <a:pPr algn="l" marL="82550" indent="-82550">
              <a:lnSpc>
                <a:spcPts val="17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secrets in the repo; threat model in docs/SECURITY.md.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96520" y="1540371"/>
            <a:ext cx="3063329" cy="883444"/>
          </a:xfrm>
          <a:prstGeom prst="roundRect">
            <a:avLst>
              <a:gd name="adj" fmla="val 14376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09196" y="1727597"/>
            <a:ext cx="2690738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09196" y="2020193"/>
            <a:ext cx="2690738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FOUNDRY TESTS PASSING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96520" y="2550765"/>
            <a:ext cx="3063329" cy="883444"/>
          </a:xfrm>
          <a:prstGeom prst="roundRect">
            <a:avLst>
              <a:gd name="adj" fmla="val 14376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09196" y="2737991"/>
            <a:ext cx="2690738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09196" y="3030587"/>
            <a:ext cx="2690738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CONTRACTS LIVE ON MONAD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96520" y="3561159"/>
            <a:ext cx="3063329" cy="883444"/>
          </a:xfrm>
          <a:prstGeom prst="roundRect">
            <a:avLst>
              <a:gd name="adj" fmla="val 14376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09196" y="3748385"/>
            <a:ext cx="2690738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09196" y="4040981"/>
            <a:ext cx="2690738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KEYS LEAKED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4150" y="4712047"/>
            <a:ext cx="79756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4150" y="4793010"/>
            <a:ext cx="839176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DESIGNER HUB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079879" y="4793010"/>
            <a:ext cx="489570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381000"/>
            <a:ext cx="8135213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RUBRIC 02 · DESIGN &amp; CRAFT (DX) — 20%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84150" y="657374"/>
            <a:ext cx="8135213" cy="41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spcAft>
                <a:spcPts val="1600"/>
              </a:spcAft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primitive anyone can build on.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84150" y="2261592"/>
            <a:ext cx="3918645" cy="978098"/>
          </a:xfrm>
          <a:prstGeom prst="rect">
            <a:avLst/>
          </a:prstGeom>
          <a:noFill/>
          <a:ln/>
        </p:spPr>
        <p:txBody>
          <a:bodyPr wrap="square" lIns="82550" tIns="0" rIns="0" bIns="0" rtlCol="0" anchor="t"/>
          <a:lstStyle/>
          <a:p>
            <a:pPr algn="l" marL="82550" indent="-82550">
              <a:lnSpc>
                <a:spcPts val="17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@yunzhujia/sdk</a:t>
            </a:r>
            <a:pPr algn="l" indent="0" marL="0">
              <a:lnSpc>
                <a:spcPts val="1775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typed, buildable, cross-checked against the contracts.</a:t>
            </a:r>
            <a:endParaRPr lang="en-US" sz="1250" dirty="0"/>
          </a:p>
          <a:p>
            <a:pPr algn="l" marL="82550" indent="-82550">
              <a:lnSpc>
                <a:spcPts val="17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Docs, an in-app /docs page, and a runnable example.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84150" y="3392091"/>
            <a:ext cx="3997017" cy="331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spcBef>
                <a:spcPts val="1200"/>
              </a:spcBef>
              <a:buNone/>
            </a:pPr>
            <a:r>
              <a:rPr lang="en-US" sz="900" dirty="0">
                <a:solidFill>
                  <a:srgbClr val="8E8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Rebuild cost ≈ one week of security work → a few typed calls.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31395" y="1680865"/>
            <a:ext cx="3828455" cy="798165"/>
          </a:xfrm>
          <a:prstGeom prst="roundRect">
            <a:avLst>
              <a:gd name="adj" fmla="val 15911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ic-do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420" y="1952923"/>
            <a:ext cx="253901" cy="2539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37721" y="1855440"/>
            <a:ext cx="3058561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1 · READ-ONLY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37721" y="2097137"/>
            <a:ext cx="3058561" cy="207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wallet, no keys — first result in ~2 minutes.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731395" y="2593330"/>
            <a:ext cx="3828455" cy="798165"/>
          </a:xfrm>
          <a:prstGeom prst="roundRect">
            <a:avLst>
              <a:gd name="adj" fmla="val 15911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ic-cu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420" y="2865388"/>
            <a:ext cx="253901" cy="25390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37721" y="2767905"/>
            <a:ext cx="2475024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2 · EOA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337721" y="3009602"/>
            <a:ext cx="2475024" cy="207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 / setPrice / apply with any wallet.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731395" y="3505795"/>
            <a:ext cx="3828455" cy="798165"/>
          </a:xfrm>
          <a:prstGeom prst="roundRect">
            <a:avLst>
              <a:gd name="adj" fmla="val 15911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ic-k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1420" y="3777853"/>
            <a:ext cx="253901" cy="2539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37721" y="3680371"/>
            <a:ext cx="2694837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3 · PASSKEY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337721" y="3922068"/>
            <a:ext cx="2694837" cy="207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Mnemonic-free identity + sponsored gas.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84150" y="4712047"/>
            <a:ext cx="79756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84150" y="4793010"/>
            <a:ext cx="839176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DESIGNER HUB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8079879" y="4793010"/>
            <a:ext cx="489570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381000"/>
            <a:ext cx="8135213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RUBRIC 03 · ORIGINALITY &amp; TRACK INSIGHT — 15%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84150" y="657374"/>
            <a:ext cx="8135213" cy="41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spcAft>
                <a:spcPts val="1600"/>
              </a:spcAft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Privacy-preserving. Not capturable.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84150" y="1787277"/>
            <a:ext cx="4237732" cy="2334071"/>
          </a:xfrm>
          <a:prstGeom prst="rect">
            <a:avLst/>
          </a:prstGeom>
          <a:noFill/>
          <a:ln/>
        </p:spPr>
        <p:txBody>
          <a:bodyPr wrap="square" lIns="82550" tIns="0" rIns="0" bIns="0" rtlCol="0" anchor="t"/>
          <a:lstStyle/>
          <a:p>
            <a:pPr algn="l" marL="82550" indent="-82550">
              <a:lnSpc>
                <a:spcPts val="17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Privacy-first:</a:t>
            </a:r>
            <a:pPr algn="l" indent="0" marL="0">
              <a:lnSpc>
                <a:spcPts val="1775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only a commitment hash is stored — content stays off-chain.</a:t>
            </a:r>
            <a:endParaRPr lang="en-US" sz="1250" dirty="0"/>
          </a:p>
          <a:p>
            <a:pPr algn="l" marL="82550" indent="-82550">
              <a:lnSpc>
                <a:spcPts val="17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vault:</a:t>
            </a:r>
            <a:pPr algn="l" indent="0" marL="0">
              <a:lnSpc>
                <a:spcPts val="1775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payment splits in-transaction, so nothing can be frozen.</a:t>
            </a:r>
            <a:endParaRPr lang="en-US" sz="1250" dirty="0"/>
          </a:p>
          <a:p>
            <a:pPr algn="l" marL="82550" indent="-82550">
              <a:lnSpc>
                <a:spcPts val="17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on-chain:</a:t>
            </a:r>
            <a:pPr algn="l" indent="0" marL="0">
              <a:lnSpc>
                <a:spcPts val="1775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attribution survives any single app.</a:t>
            </a:r>
            <a:endParaRPr lang="en-US" sz="1250" dirty="0"/>
          </a:p>
          <a:p>
            <a:pPr algn="l" marL="82550" indent="-82550">
              <a:lnSpc>
                <a:spcPts val="17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Permissionless relayer:</a:t>
            </a:r>
            <a:pPr algn="l" indent="0" marL="0">
              <a:lnSpc>
                <a:spcPts val="1775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signature authorizes, not the operator.</a:t>
            </a:r>
            <a:endParaRPr lang="en-US" sz="1250" dirty="0"/>
          </a:p>
          <a:p>
            <a:pPr algn="l" marL="82550" indent="-82550">
              <a:lnSpc>
                <a:spcPts val="17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Non-custodial:</a:t>
            </a:r>
            <a:pPr algn="l" indent="0" marL="0">
              <a:lnSpc>
                <a:spcPts val="1775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key lives in the user’s secure element.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50482" y="1962596"/>
            <a:ext cx="3509367" cy="858143"/>
          </a:xfrm>
          <a:prstGeom prst="roundRect">
            <a:avLst>
              <a:gd name="adj" fmla="val 14799"/>
            </a:avLst>
          </a:prstGeom>
          <a:solidFill>
            <a:srgbClr val="14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50482" y="1967359"/>
            <a:ext cx="3509367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55087" y="1962596"/>
            <a:ext cx="0" cy="858143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50482" y="2815977"/>
            <a:ext cx="3509367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69532" y="1962596"/>
            <a:ext cx="0" cy="858143"/>
          </a:xfrm>
          <a:prstGeom prst="line">
            <a:avLst/>
          </a:prstGeom>
          <a:noFill/>
          <a:ln w="38100">
            <a:solidFill>
              <a:srgbClr val="FF9B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79082" y="2137172"/>
            <a:ext cx="3142357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FF9B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OTHERS “FIX” 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79082" y="2429768"/>
            <a:ext cx="3142357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vault, another private database.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50482" y="2947690"/>
            <a:ext cx="3509367" cy="1074539"/>
          </a:xfrm>
          <a:prstGeom prst="roundRect">
            <a:avLst>
              <a:gd name="adj" fmla="val 11819"/>
            </a:avLst>
          </a:prstGeom>
          <a:solidFill>
            <a:srgbClr val="14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050482" y="2952452"/>
            <a:ext cx="3509367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55087" y="2947690"/>
            <a:ext cx="0" cy="1074539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50482" y="4017466"/>
            <a:ext cx="3509367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69532" y="2947690"/>
            <a:ext cx="0" cy="1074539"/>
          </a:xfrm>
          <a:prstGeom prst="line">
            <a:avLst/>
          </a:prstGeom>
          <a:noFill/>
          <a:ln w="38100">
            <a:solidFill>
              <a:srgbClr val="8B7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9082" y="3122265"/>
            <a:ext cx="3142357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DESIGNER HUB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79082" y="3414861"/>
            <a:ext cx="3142357" cy="432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split + lineage + open relay. No single party to capture.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4150" y="4712047"/>
            <a:ext cx="79756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4150" y="4793010"/>
            <a:ext cx="839176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DESIGNER HUB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79879" y="4793010"/>
            <a:ext cx="489570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381000"/>
            <a:ext cx="8135213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RUBRIC 04 · FOUNDER &amp; MARKET READINESS — 25%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84150" y="657374"/>
            <a:ext cx="8135213" cy="41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spcAft>
                <a:spcPts val="1600"/>
              </a:spcAft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adopts it — and why not build it.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84150" y="1277689"/>
            <a:ext cx="1934021" cy="2026146"/>
          </a:xfrm>
          <a:prstGeom prst="roundRect">
            <a:avLst>
              <a:gd name="adj" fmla="val 6567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4175" y="1452265"/>
            <a:ext cx="431750" cy="431750"/>
          </a:xfrm>
          <a:prstGeom prst="roundRect">
            <a:avLst>
              <a:gd name="adj" fmla="val 23532"/>
            </a:avLst>
          </a:prstGeom>
          <a:solidFill>
            <a:srgbClr val="1C1930"/>
          </a:solidFill>
          <a:ln w="9525">
            <a:solidFill>
              <a:srgbClr val="3A3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ic-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425" y="1547515"/>
            <a:ext cx="241250" cy="2412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4175" y="1998315"/>
            <a:ext cx="1564651" cy="432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DESIGN TOOLS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4175" y="2507307"/>
            <a:ext cx="1564651" cy="414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+ payouts, no crypto to build.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2597795" y="1277689"/>
            <a:ext cx="1934021" cy="2026146"/>
          </a:xfrm>
          <a:prstGeom prst="roundRect">
            <a:avLst>
              <a:gd name="adj" fmla="val 6567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797820" y="1452265"/>
            <a:ext cx="431750" cy="431750"/>
          </a:xfrm>
          <a:prstGeom prst="roundRect">
            <a:avLst>
              <a:gd name="adj" fmla="val 23532"/>
            </a:avLst>
          </a:prstGeom>
          <a:solidFill>
            <a:srgbClr val="1C1930"/>
          </a:solidFill>
          <a:ln w="9525">
            <a:solidFill>
              <a:srgbClr val="3A3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1" descr="ic-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070" y="1547515"/>
            <a:ext cx="241250" cy="2412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97820" y="1998315"/>
            <a:ext cx="1564651" cy="432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MARKETPLACES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797820" y="2507307"/>
            <a:ext cx="1564651" cy="414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Passkey login + resale royalty, plug-in.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611439" y="1277689"/>
            <a:ext cx="1934021" cy="2026146"/>
          </a:xfrm>
          <a:prstGeom prst="roundRect">
            <a:avLst>
              <a:gd name="adj" fmla="val 6567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811464" y="1452265"/>
            <a:ext cx="431750" cy="431750"/>
          </a:xfrm>
          <a:prstGeom prst="roundRect">
            <a:avLst>
              <a:gd name="adj" fmla="val 23532"/>
            </a:avLst>
          </a:prstGeom>
          <a:solidFill>
            <a:srgbClr val="1C1930"/>
          </a:solidFill>
          <a:ln w="9525">
            <a:solidFill>
              <a:srgbClr val="3A3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ic-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6714" y="1547515"/>
            <a:ext cx="241250" cy="2412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11464" y="1998315"/>
            <a:ext cx="1564651" cy="432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AI PLATFORMS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811464" y="2507307"/>
            <a:ext cx="1564651" cy="621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neutral record of which model made what.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625084" y="1277689"/>
            <a:ext cx="1934021" cy="2026146"/>
          </a:xfrm>
          <a:prstGeom prst="roundRect">
            <a:avLst>
              <a:gd name="adj" fmla="val 6567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825109" y="1452265"/>
            <a:ext cx="431750" cy="431750"/>
          </a:xfrm>
          <a:prstGeom prst="roundRect">
            <a:avLst>
              <a:gd name="adj" fmla="val 23532"/>
            </a:avLst>
          </a:prstGeom>
          <a:solidFill>
            <a:srgbClr val="1C1930"/>
          </a:solidFill>
          <a:ln w="9525">
            <a:solidFill>
              <a:srgbClr val="3A3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ic-k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0359" y="1547515"/>
            <a:ext cx="241250" cy="2412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25109" y="1998315"/>
            <a:ext cx="1564651" cy="432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IDENTITY SDKs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825109" y="2507307"/>
            <a:ext cx="1564651" cy="414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P-256 account that needs no precompile.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84150" y="3468886"/>
            <a:ext cx="7975699" cy="1408956"/>
          </a:xfrm>
          <a:prstGeom prst="roundRect">
            <a:avLst>
              <a:gd name="adj" fmla="val 9014"/>
            </a:avLst>
          </a:prstGeom>
          <a:solidFill>
            <a:srgbClr val="14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19"/>
          <p:cNvSpPr/>
          <p:nvPr/>
        </p:nvSpPr>
        <p:spPr>
          <a:xfrm>
            <a:off x="584150" y="3473648"/>
            <a:ext cx="79756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555087" y="3468886"/>
            <a:ext cx="0" cy="1408956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84150" y="4873079"/>
            <a:ext cx="79756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03200" y="3468886"/>
            <a:ext cx="0" cy="1408956"/>
          </a:xfrm>
          <a:prstGeom prst="line">
            <a:avLst/>
          </a:prstGeom>
          <a:noFill/>
          <a:ln w="38100">
            <a:solidFill>
              <a:srgbClr val="8B7CF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50850" y="3668911"/>
            <a:ext cx="7620292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roll your own?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850850" y="3937992"/>
            <a:ext cx="7620292" cy="450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Rebuilding is </a:t>
            </a:r>
            <a:pPr algn="l" indent="0" marL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a week of security-sensitive work:</a:t>
            </a:r>
            <a:pPr algn="l" indent="0" marL="0">
              <a:lnSpc>
                <a:spcPts val="1775"/>
              </a:lnSpc>
              <a:buNone/>
            </a:pPr>
            <a:r>
              <a:rPr lang="en-US" sz="125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WebAuthn parsing, P-256 math, replay-safe CREATE2 accounts, a challenge scheme and a lineage splitter.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850850" y="4452342"/>
            <a:ext cx="7620292" cy="225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5"/>
              </a:lnSpc>
              <a:spcBef>
                <a:spcPts val="500"/>
              </a:spcBef>
              <a:buNone/>
            </a:pPr>
            <a:r>
              <a:rPr lang="en-US" sz="125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SDK reduces it to a few typed calls — and 云筑家 already exports the scheme JSON.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584150" y="4882604"/>
            <a:ext cx="79756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84150" y="4963567"/>
            <a:ext cx="839176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DESIGNER HUB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8079879" y="4963567"/>
            <a:ext cx="489570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381000"/>
            <a:ext cx="8135213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RUBRIC 05 · TRACTION &amp; PATH FORWARD — 20%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84150" y="657374"/>
            <a:ext cx="8135213" cy="41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spcAft>
                <a:spcPts val="1600"/>
              </a:spcAft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status. Concrete plan.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84150" y="1277689"/>
            <a:ext cx="2233351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84150" y="1564481"/>
            <a:ext cx="2189559" cy="828824"/>
          </a:xfrm>
          <a:prstGeom prst="rect">
            <a:avLst/>
          </a:prstGeom>
          <a:noFill/>
          <a:ln/>
        </p:spPr>
        <p:txBody>
          <a:bodyPr wrap="square" lIns="82550" tIns="0" rIns="0" bIns="0" rtlCol="0" anchor="t"/>
          <a:lstStyle/>
          <a:p>
            <a:pPr algn="l" marL="82550" indent="-82550">
              <a:lnSpc>
                <a:spcPts val="17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live on Monad testnet</a:t>
            </a:r>
            <a:endParaRPr lang="en-US" sz="1250" dirty="0"/>
          </a:p>
          <a:p>
            <a:pPr algn="l" marL="82550" indent="-82550">
              <a:lnSpc>
                <a:spcPts val="17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+ docs shipped</a:t>
            </a:r>
            <a:endParaRPr lang="en-US" sz="1250" dirty="0"/>
          </a:p>
          <a:p>
            <a:pPr algn="l" marL="82550" indent="-82550">
              <a:lnSpc>
                <a:spcPts val="1775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third-party integration </a:t>
            </a:r>
            <a:pPr algn="l" indent="0" marL="0">
              <a:lnSpc>
                <a:spcPts val="1775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76860" y="1277689"/>
            <a:ext cx="5694649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1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forward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76860" y="1637556"/>
            <a:ext cx="1351211" cy="0"/>
          </a:xfrm>
          <a:prstGeom prst="line">
            <a:avLst/>
          </a:prstGeom>
          <a:noFill/>
          <a:ln w="19050">
            <a:solidFill>
              <a:srgbClr val="8B7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6860" y="1761381"/>
            <a:ext cx="1287607" cy="16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76860" y="1990427"/>
            <a:ext cx="1287607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1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kit shipped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8071" y="1637556"/>
            <a:ext cx="1440210" cy="0"/>
          </a:xfrm>
          <a:prstGeom prst="line">
            <a:avLst/>
          </a:prstGeom>
          <a:noFill/>
          <a:ln w="19050">
            <a:solidFill>
              <a:srgbClr val="5B4B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921" y="1761381"/>
            <a:ext cx="1287759" cy="16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HACKATHON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16921" y="1990427"/>
            <a:ext cx="1287759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1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one external integration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768280" y="1637556"/>
            <a:ext cx="1440210" cy="0"/>
          </a:xfrm>
          <a:prstGeom prst="line">
            <a:avLst/>
          </a:prstGeom>
          <a:noFill/>
          <a:ln w="19050">
            <a:solidFill>
              <a:srgbClr val="3A3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7131" y="1761381"/>
            <a:ext cx="1287759" cy="16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8E8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7131" y="1990427"/>
            <a:ext cx="1287759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1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Bounties + “built on” track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08490" y="1637556"/>
            <a:ext cx="1351359" cy="0"/>
          </a:xfrm>
          <a:prstGeom prst="line">
            <a:avLst/>
          </a:prstGeom>
          <a:noFill/>
          <a:ln w="19050">
            <a:solidFill>
              <a:srgbClr val="3A3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97341" y="1761381"/>
            <a:ext cx="1287759" cy="16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8E8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297341" y="1990427"/>
            <a:ext cx="1287759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buNone/>
            </a:pPr>
            <a:r>
              <a:rPr lang="en-US" sz="1150" dirty="0">
                <a:solidFill>
                  <a:srgbClr val="C7C3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Metered relay · EIP draft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84150" y="3368278"/>
            <a:ext cx="7975699" cy="643384"/>
          </a:xfrm>
          <a:prstGeom prst="roundRect">
            <a:avLst>
              <a:gd name="adj" fmla="val 19739"/>
            </a:avLst>
          </a:prstGeom>
          <a:solidFill>
            <a:srgbClr val="14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84150" y="3373041"/>
            <a:ext cx="79756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55087" y="3368278"/>
            <a:ext cx="0" cy="643384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4150" y="4006900"/>
            <a:ext cx="79756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200" y="3368278"/>
            <a:ext cx="0" cy="643384"/>
          </a:xfrm>
          <a:prstGeom prst="line">
            <a:avLst/>
          </a:prstGeom>
          <a:noFill/>
          <a:ln w="38100">
            <a:solidFill>
              <a:srgbClr val="8B7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850" y="3568303"/>
            <a:ext cx="7620292" cy="24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dirty="0">
                <a:solidFill>
                  <a:srgbClr val="E4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would rather land one real integration than claim ten.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84150" y="4712047"/>
            <a:ext cx="79756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4150" y="4793010"/>
            <a:ext cx="839176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DESIGNER HUB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79879" y="4793010"/>
            <a:ext cx="489570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381000"/>
            <a:ext cx="8135213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84150" y="657374"/>
            <a:ext cx="8135213" cy="41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spcAft>
                <a:spcPts val="1600"/>
              </a:spcAft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on-chain data — not mocks.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84150" y="1886992"/>
            <a:ext cx="2569369" cy="1650950"/>
          </a:xfrm>
          <a:prstGeom prst="roundRect">
            <a:avLst>
              <a:gd name="adj" fmla="val 6154"/>
            </a:avLst>
          </a:prstGeom>
          <a:solidFill>
            <a:srgbClr val="141220"/>
          </a:solidFill>
          <a:ln w="9525">
            <a:solidFill>
              <a:srgbClr val="3A3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01-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6" y="1947267"/>
            <a:ext cx="2448818" cy="153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4150" y="3614142"/>
            <a:ext cx="2620756" cy="16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8E8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GALLERY · LIVE FEED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331220" y="1886992"/>
            <a:ext cx="2480518" cy="1595438"/>
          </a:xfrm>
          <a:prstGeom prst="roundRect">
            <a:avLst>
              <a:gd name="adj" fmla="val 6368"/>
            </a:avLst>
          </a:prstGeom>
          <a:solidFill>
            <a:srgbClr val="141220"/>
          </a:solidFill>
          <a:ln w="9525">
            <a:solidFill>
              <a:srgbClr val="3A3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02-scheme-det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495" y="1947267"/>
            <a:ext cx="2359968" cy="14748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31220" y="3558629"/>
            <a:ext cx="2530129" cy="16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8E8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LINEAGE + VERSIONS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989439" y="1886992"/>
            <a:ext cx="2569369" cy="1650950"/>
          </a:xfrm>
          <a:prstGeom prst="roundRect">
            <a:avLst>
              <a:gd name="adj" fmla="val 6154"/>
            </a:avLst>
          </a:prstGeom>
          <a:solidFill>
            <a:srgbClr val="141220"/>
          </a:solidFill>
          <a:ln w="9525">
            <a:solidFill>
              <a:srgbClr val="3A3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2" descr="06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9714" y="1947267"/>
            <a:ext cx="2448818" cy="1530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89439" y="3614142"/>
            <a:ext cx="2620756" cy="16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8E8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LEADERBOARD · HEAT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584150" y="3932188"/>
            <a:ext cx="8135213" cy="16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spcBef>
                <a:spcPts val="1200"/>
              </a:spcBef>
              <a:buNone/>
            </a:pPr>
            <a:r>
              <a:rPr lang="en-US" sz="900" dirty="0">
                <a:solidFill>
                  <a:srgbClr val="8E8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Ledger, remix editor and comments all read live Monad testnet events.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584150" y="4712047"/>
            <a:ext cx="79756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84150" y="4793010"/>
            <a:ext cx="839176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DESIGNER HUB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8079879" y="4793010"/>
            <a:ext cx="489570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50" y="381000"/>
            <a:ext cx="8135213" cy="174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8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8B7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TRACTION · BUSINESS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84150" y="657374"/>
            <a:ext cx="8135213" cy="417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spcAft>
                <a:spcPts val="1600"/>
              </a:spcAft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testnet to real homes.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84150" y="1277689"/>
            <a:ext cx="3908078" cy="1786086"/>
          </a:xfrm>
          <a:prstGeom prst="roundRect">
            <a:avLst>
              <a:gd name="adj" fmla="val 7111"/>
            </a:avLst>
          </a:prstGeom>
          <a:solidFill>
            <a:srgbClr val="141220"/>
          </a:solidFill>
          <a:ln w="9525">
            <a:solidFill>
              <a:srgbClr val="2A274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6826" y="1477714"/>
            <a:ext cx="3552381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DISCUSSION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6826" y="1770311"/>
            <a:ext cx="3552381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partnership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6826" y="2034480"/>
            <a:ext cx="3552381" cy="829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talks with a renovation company (</a:t>
            </a:r>
            <a:pPr algn="l" indent="0" marL="0">
              <a:lnSpc>
                <a:spcPts val="1633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刘 binyue</a:t>
            </a:r>
            <a:pPr algn="l"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to use Designer Hub schemes in real projects — vetted, traceable designs; the author gets paid on application.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651623" y="1277689"/>
            <a:ext cx="3908078" cy="1786086"/>
          </a:xfrm>
          <a:prstGeom prst="roundRect">
            <a:avLst>
              <a:gd name="adj" fmla="val 7111"/>
            </a:avLst>
          </a:prstGeom>
          <a:solidFill>
            <a:srgbClr val="1412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51623" y="1282452"/>
            <a:ext cx="3908078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54938" y="1277689"/>
            <a:ext cx="0" cy="1786086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51623" y="3059013"/>
            <a:ext cx="3908078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70673" y="1277689"/>
            <a:ext cx="0" cy="1786086"/>
          </a:xfrm>
          <a:prstGeom prst="line">
            <a:avLst/>
          </a:prstGeom>
          <a:noFill/>
          <a:ln w="38100">
            <a:solidFill>
              <a:srgbClr val="8B7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873" y="1477714"/>
            <a:ext cx="3523235" cy="216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4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B9B5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873" y="1770311"/>
            <a:ext cx="3523235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volume, real rail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873" y="2034480"/>
            <a:ext cx="3523235" cy="621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B9B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projects turn the primitive into traction and revenue — 云筑家 supplies the schemes, the partner brings the demand.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4150" y="3639145"/>
            <a:ext cx="7975699" cy="0"/>
          </a:xfrm>
          <a:prstGeom prst="line">
            <a:avLst/>
          </a:prstGeom>
          <a:noFill/>
          <a:ln w="9525">
            <a:solidFill>
              <a:srgbClr val="3A3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4150" y="3796308"/>
            <a:ext cx="813521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settlement layer for creative work on the AI-native internet.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84150" y="4148733"/>
            <a:ext cx="8135213" cy="16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8E8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DESIGNER HUB · MONAD TESTNET · TRACK 04 · 榮 / 云筑家 VirtuHome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84150" y="4712047"/>
            <a:ext cx="7975699" cy="0"/>
          </a:xfrm>
          <a:prstGeom prst="line">
            <a:avLst/>
          </a:prstGeom>
          <a:noFill/>
          <a:ln w="9525">
            <a:solidFill>
              <a:srgbClr val="2A27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4150" y="4793010"/>
            <a:ext cx="839176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DESIGNER HUB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79879" y="4793010"/>
            <a:ext cx="489570" cy="1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00" dirty="0">
                <a:solidFill>
                  <a:srgbClr val="6C68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Designer Hub · Monad — Pitch</dc:title>
  <dc:subject>PptxGenJS Presentation</dc:subject>
  <dc:creator>Rong · 云筑家 VirtuHome</dc:creator>
  <cp:lastModifiedBy>Rong · 云筑家 VirtuHome</cp:lastModifiedBy>
  <cp:revision>1</cp:revision>
  <dcterms:created xsi:type="dcterms:W3CDTF">2026-10-12T06:26:06Z</dcterms:created>
  <dcterms:modified xsi:type="dcterms:W3CDTF">2026-10-12T06:26:06Z</dcterms:modified>
</cp:coreProperties>
</file>